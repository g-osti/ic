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sldIdLst>
    <p:sldId id="256" r:id="rId3"/>
    <p:sldId id="257" r:id="rId4"/>
    <p:sldId id="265" r:id="rId5"/>
    <p:sldId id="258" r:id="rId6"/>
    <p:sldId id="268" r:id="rId7"/>
    <p:sldId id="267" r:id="rId8"/>
    <p:sldId id="271" r:id="rId9"/>
    <p:sldId id="270" r:id="rId10"/>
    <p:sldId id="269" r:id="rId11"/>
    <p:sldId id="263" r:id="rId12"/>
    <p:sldId id="262" r:id="rId13"/>
    <p:sldId id="259" r:id="rId14"/>
    <p:sldId id="260" r:id="rId15"/>
  </p:sldIdLst>
  <p:sldSz cx="12192000" cy="6858000"/>
  <p:notesSz cx="12192000" cy="6858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orient="horz" pos="2160"/>
        <p:guide pos="2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userDrawn="1" matchingName="Slide de Título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 panose="02040503050406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7" name="Google Shape;17;p7"/>
          <p:cNvSpPr txBox="1"/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</a:p>
        </p:txBody>
      </p:sp>
      <p:sp>
        <p:nvSpPr>
          <p:cNvPr id="18" name="Google Shape;18;p7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9" name="Google Shape;19;p7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20" name="Google Shape;20;p7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PhAnim="0" userDrawn="1" matchingName="Título e Conteúdo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23" name="Google Shape;23;p8"/>
          <p:cNvSpPr txBox="1"/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24" name="Google Shape;24;p8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25" name="Google Shape;25;p8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26" name="Google Shape;26;p8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PhAnim="0" userDrawn="1" matchingName="Cabeçalho da Seção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 panose="02040503050406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29" name="Google Shape;29;p9"/>
          <p:cNvSpPr txBox="1"/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</a:p>
        </p:txBody>
      </p:sp>
      <p:sp>
        <p:nvSpPr>
          <p:cNvPr id="30" name="Google Shape;30;p9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31" name="Google Shape;31;p9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32" name="Google Shape;32;p9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showMasterPhAnim="0" userDrawn="1" matchingName="Duas Partes de Conteúdo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35" name="Google Shape;35;p10"/>
          <p:cNvSpPr txBox="1"/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36" name="Google Shape;36;p10"/>
          <p:cNvSpPr txBox="1"/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37" name="Google Shape;37;p10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38" name="Google Shape;38;p10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39" name="Google Shape;39;p10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showMasterPhAnim="0" userDrawn="1" matchingName="Comparação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42" name="Google Shape;42;p11"/>
          <p:cNvSpPr txBox="1"/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</a:p>
        </p:txBody>
      </p:sp>
      <p:sp>
        <p:nvSpPr>
          <p:cNvPr id="43" name="Google Shape;43;p11"/>
          <p:cNvSpPr txBox="1"/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44" name="Google Shape;44;p11"/>
          <p:cNvSpPr txBox="1"/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</a:p>
        </p:txBody>
      </p:sp>
      <p:sp>
        <p:nvSpPr>
          <p:cNvPr id="45" name="Google Shape;45;p11"/>
          <p:cNvSpPr txBox="1"/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46" name="Google Shape;46;p11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47" name="Google Shape;47;p11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48" name="Google Shape;48;p11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showMasterPhAnim="0" userDrawn="1" matchingName="Somente Título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51" name="Google Shape;51;p12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52" name="Google Shape;52;p12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53" name="Google Shape;53;p12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showMasterPhAnim="0" userDrawn="1" matchingName="Conteúdo com Legenda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 panose="02040503050406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56" name="Google Shape;56;p14"/>
          <p:cNvSpPr txBox="1"/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</a:p>
        </p:txBody>
      </p:sp>
      <p:sp>
        <p:nvSpPr>
          <p:cNvPr id="57" name="Google Shape;57;p14"/>
          <p:cNvSpPr txBox="1"/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</a:p>
        </p:txBody>
      </p:sp>
      <p:sp>
        <p:nvSpPr>
          <p:cNvPr id="58" name="Google Shape;58;p14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59" name="Google Shape;59;p14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60" name="Google Shape;60;p14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PhAnim="0" userDrawn="1" matchingName="Imagem com Legenda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 panose="02040503050406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63" name="Google Shape;63;p15"/>
          <p:cNvSpPr/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</a:p>
        </p:txBody>
      </p:sp>
      <p:sp>
        <p:nvSpPr>
          <p:cNvPr id="65" name="Google Shape;65;p15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66" name="Google Shape;66;p15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67" name="Google Shape;67;p15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showMasterPhAnim="0" userDrawn="1" matchingName="Título e Texto Vertical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70" name="Google Shape;70;p16"/>
          <p:cNvSpPr txBox="1"/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71" name="Google Shape;71;p16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72" name="Google Shape;72;p16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73" name="Google Shape;73;p16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PhAnim="0" userDrawn="1" matchingName="Texto e Título Vertical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76" name="Google Shape;76;p17"/>
          <p:cNvSpPr txBox="1"/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77" name="Google Shape;77;p17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78" name="Google Shape;78;p17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79" name="Google Shape;79;p17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 sz="44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>
              <a:defRPr/>
            </a:pPr>
          </a:p>
        </p:txBody>
      </p:sp>
      <p:sp>
        <p:nvSpPr>
          <p:cNvPr id="11" name="Google Shape;11;p6"/>
          <p:cNvSpPr txBox="1"/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/>
            </a:pPr>
          </a:p>
        </p:txBody>
      </p:sp>
      <p:sp>
        <p:nvSpPr>
          <p:cNvPr id="12" name="Google Shape;12;p6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/>
            </a:pPr>
          </a:p>
        </p:txBody>
      </p:sp>
      <p:sp>
        <p:nvSpPr>
          <p:cNvPr id="13" name="Google Shape;13;p6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>
              <a:defRPr/>
            </a:pPr>
          </a:p>
        </p:txBody>
      </p:sp>
      <p:sp>
        <p:nvSpPr>
          <p:cNvPr id="14" name="Google Shape;14;p6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 bwMode="auto">
          <a:xfrm>
            <a:off x="1993265" y="3092450"/>
            <a:ext cx="8206105" cy="1207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sz="4400"/>
              <a:t>Estudo de Circuitos de Condicionamento de Sinais em Aplicações Envolvendo DSPs</a:t>
            </a:r>
            <a:endParaRPr lang="pt-BR" sz="4400"/>
          </a:p>
        </p:txBody>
      </p:sp>
      <p:sp>
        <p:nvSpPr>
          <p:cNvPr id="85" name="Google Shape;85;p1"/>
          <p:cNvSpPr txBox="1"/>
          <p:nvPr>
            <p:ph type="subTitle" idx="1"/>
          </p:nvPr>
        </p:nvSpPr>
        <p:spPr bwMode="auto">
          <a:xfrm>
            <a:off x="1523999" y="4288437"/>
            <a:ext cx="9144000" cy="979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pt-BR"/>
              <a:t>Gustavo de Freitas Osti, Dr. Wesley Angelino de Souza, Dr. Sérgio Augusto Oliveira da Silva</a:t>
            </a:r>
            <a:endParaRPr lang="pt-BR"/>
          </a:p>
        </p:txBody>
      </p:sp>
      <p:sp>
        <p:nvSpPr>
          <p:cNvPr id="86" name="Google Shape;86;p1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sp>
        <p:nvSpPr>
          <p:cNvPr id="87" name="Google Shape;87;p1"/>
          <p:cNvSpPr txBox="1"/>
          <p:nvPr/>
        </p:nvSpPr>
        <p:spPr bwMode="auto">
          <a:xfrm>
            <a:off x="3137666" y="214323"/>
            <a:ext cx="5916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88" name="Google Shape;88;p1"/>
          <p:cNvSpPr txBox="1"/>
          <p:nvPr/>
        </p:nvSpPr>
        <p:spPr bwMode="auto">
          <a:xfrm>
            <a:off x="1523999" y="5679871"/>
            <a:ext cx="9144000" cy="40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/>
            </a:pPr>
            <a:r>
              <a:rPr lang="pt-BR" sz="18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Campus Cornélio Procópio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9" name="Google Shape;89;p1"/>
          <p:cNvSpPr txBox="1"/>
          <p:nvPr/>
        </p:nvSpPr>
        <p:spPr bwMode="auto">
          <a:xfrm>
            <a:off x="1573175" y="2200264"/>
            <a:ext cx="914400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/>
            </a:pPr>
            <a:r>
              <a:rPr lang="pt-BR" sz="2000" b="1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Sicite 15. Engenharia Elétrica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0" name="Google Shape;90;p1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-25" y="-1"/>
            <a:ext cx="12192000" cy="1901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 bwMode="auto"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b="1">
                <a:latin typeface="Cambria" panose="02040503050406030204"/>
                <a:ea typeface="Cambria" panose="02040503050406030204"/>
                <a:cs typeface="Cambria" panose="02040503050406030204"/>
              </a:rPr>
              <a:t>Introdução</a:t>
            </a:r>
            <a:endParaRPr lang="pt-BR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 bwMode="auto">
          <a:xfrm>
            <a:off x="838200" y="2060575"/>
            <a:ext cx="8891905" cy="320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 sz="2500">
                <a:ln>
                  <a:noFill/>
                </a:ln>
                <a:solidFill>
                  <a:schemeClr val="tx1"/>
                </a:solidFill>
              </a:rPr>
              <a:t>Sistemas de aquisição de sinais envolvendo DSPs possuem uma gama de diferentes aplicações, como:</a:t>
            </a:r>
            <a:endParaRPr lang="pt-BR" sz="2500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 sz="2500">
                <a:ln>
                  <a:noFill/>
                </a:ln>
                <a:solidFill>
                  <a:schemeClr val="tx1"/>
                </a:solidFill>
              </a:rPr>
              <a:t>Controle de inversores para motores (ASPALLI; MUNCHY; MEDEGAR, 2015);</a:t>
            </a:r>
            <a:endParaRPr lang="pt-BR" sz="2500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 sz="2500">
                <a:ln>
                  <a:noFill/>
                </a:ln>
                <a:solidFill>
                  <a:schemeClr val="tx1"/>
                </a:solidFill>
              </a:rPr>
              <a:t>Medição de painéis fotovoltaicos (KAMIL, 2010);</a:t>
            </a:r>
            <a:endParaRPr lang="pt-BR" sz="2500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 sz="2500">
                <a:ln>
                  <a:noFill/>
                </a:ln>
                <a:solidFill>
                  <a:schemeClr val="tx1"/>
                </a:solidFill>
              </a:rPr>
              <a:t>Filtros ativos (PATIDAR; SINGH, 2009).</a:t>
            </a:r>
            <a:endParaRPr lang="pt-BR" sz="2500">
              <a:ln>
                <a:noFill/>
              </a:ln>
              <a:solidFill>
                <a:schemeClr val="tx1"/>
              </a:solidFill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endParaRPr lang="pt-BR" sz="2500">
              <a:ln>
                <a:noFill/>
              </a:ln>
              <a:solidFill>
                <a:schemeClr val="tx1"/>
              </a:solidFill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pt-BR" sz="2500">
                <a:ln>
                  <a:noFill/>
                </a:ln>
                <a:solidFill>
                  <a:schemeClr val="tx1"/>
                </a:solidFill>
              </a:rPr>
              <a:t>Para funcionamento efetivo destas aplicações, é desejável uma maior precisão do sinal captado e dos sistemas anteriores ao processador.</a:t>
            </a:r>
            <a:endParaRPr lang="pt-BR" sz="250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97" name="Google Shape;97;p2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99" name="Google Shape;99;p2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 bwMode="auto"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b="1">
                <a:latin typeface="Cambria" panose="02040503050406030204"/>
                <a:ea typeface="Cambria" panose="02040503050406030204"/>
                <a:cs typeface="Cambria" panose="02040503050406030204"/>
              </a:rPr>
              <a:t>Introdução</a:t>
            </a:r>
            <a:endParaRPr lang="pt-BR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 bwMode="auto">
          <a:xfrm>
            <a:off x="838200" y="1943735"/>
            <a:ext cx="8891905" cy="342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  <a:sym typeface="+mn-ea"/>
              </a:rPr>
              <a:t>Em todos os casos, pode-se dividir esses sistemas em 4 etapas: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  <a:sym typeface="+mn-ea"/>
              </a:rPr>
              <a:t>Sensores, que captam o sinal analógico desejado;</a:t>
            </a:r>
            <a:endParaRPr lang="pt-BR">
              <a:ln>
                <a:noFill/>
              </a:ln>
              <a:solidFill>
                <a:schemeClr val="tx1"/>
              </a:solidFill>
              <a:sym typeface="+mn-ea"/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Circuito de Condicionamento de Sinais;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Conversor Analógico Digital (A/D);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Processador Digital, como um DSP.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Para realizar uma redução da inserção de ruídos, é possível alterar a abrangência da amplitude de entrada do sinal analógico a qual o conversor A/D deve ser capaz de suportar.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97" name="Google Shape;97;p2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99" name="Google Shape;99;p2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b="1">
                <a:latin typeface="Cambria" panose="02040503050406030204"/>
                <a:ea typeface="Cambria" panose="02040503050406030204"/>
                <a:cs typeface="Cambria" panose="02040503050406030204"/>
              </a:rPr>
              <a:t>Método</a:t>
            </a:r>
            <a:endParaRPr lang="pt-BR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07" name="Google Shape;107;p3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08" name="Google Shape;108;p3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 de Texto 2"/>
          <p:cNvSpPr txBox="1"/>
          <p:nvPr/>
        </p:nvSpPr>
        <p:spPr>
          <a:xfrm>
            <a:off x="1483995" y="184848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pt-BR" altLang="en-US"/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 bwMode="auto">
          <a:xfrm>
            <a:off x="838200" y="1943735"/>
            <a:ext cx="8891905" cy="342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20000"/>
          </a:bodyPr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A metodologia adotada no trabalho se resume aos seguintes tópicos: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Comparação de modelos de circuitos de condicionamento de sinais;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Revisão teórica a cerca de amplificadores operacionais (AOPs) para proposição de outro modelo de circuito;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Verificação da redução de ruído inserido através de software de simulação TINA-TI.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b="1">
                <a:latin typeface="Cambria" panose="02040503050406030204"/>
                <a:ea typeface="Cambria" panose="02040503050406030204"/>
                <a:cs typeface="Cambria" panose="02040503050406030204"/>
              </a:rPr>
              <a:t>Conversor A/D</a:t>
            </a:r>
            <a:endParaRPr lang="pt-BR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07" name="Google Shape;107;p3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08" name="Google Shape;108;p3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>
            <p:ph type="body" idx="1"/>
          </p:nvPr>
        </p:nvSpPr>
        <p:spPr bwMode="auto">
          <a:xfrm>
            <a:off x="838200" y="1943735"/>
            <a:ext cx="8891905" cy="342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20000"/>
          </a:bodyPr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Na seleção do conversor A/D, deve-se atentar a algumas características além da aplitude do sinal de entrada, como: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Resolução e Taxa de Amostragem, valores menores implicam em imprecisões;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Relação Sinal Ruído (SNR), quanto a sinais parasitas inseridos;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  <a:p>
            <a:pPr lvl="0" indent="-45720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defRPr/>
            </a:pPr>
            <a:r>
              <a:rPr lang="pt-BR">
                <a:ln>
                  <a:noFill/>
                </a:ln>
                <a:solidFill>
                  <a:schemeClr val="tx1"/>
                </a:solidFill>
              </a:rPr>
              <a:t>Total Unadjusted Error (TUE), que inclem erros de offset, ganho, não-linearidade diferencial e integral (BALESTRIERI; AL, 2005).</a:t>
            </a:r>
            <a:endParaRPr lang="pt-BR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ftr" idx="1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08" name="Google Shape;108;p3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Espaço Reservado para Imagem 8"/>
          <p:cNvGraphicFramePr/>
          <p:nvPr>
            <p:ph type="pic" idx="2"/>
          </p:nvPr>
        </p:nvGraphicFramePr>
        <p:xfrm>
          <a:off x="1919605" y="1844675"/>
          <a:ext cx="9467215" cy="4088765"/>
        </p:xfrm>
        <a:graphic>
          <a:graphicData uri="http://schemas.openxmlformats.org/drawingml/2006/table">
            <a:tbl>
              <a:tblPr bandRow="1"/>
              <a:tblGrid>
                <a:gridCol w="1605915"/>
                <a:gridCol w="2501900"/>
                <a:gridCol w="2596515"/>
                <a:gridCol w="2762885"/>
              </a:tblGrid>
              <a:tr h="7315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Conversor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TMS320F28335 ADC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AD4115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AD7616</a:t>
                      </a:r>
                      <a:endParaRPr lang="en-US" altLang="en-US" sz="1600" b="1">
                        <a:highlight>
                          <a:srgbClr val="00FF0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Resolução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bits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 bits</a:t>
                      </a:r>
                      <a:endParaRPr lang="en-US" altLang="en-US" sz="1600">
                        <a:highlight>
                          <a:srgbClr val="00FF0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 bits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182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Número de Conversores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03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Canais por C</a:t>
                      </a:r>
                      <a:r>
                        <a:rPr lang="pt-BR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onversor</a:t>
                      </a:r>
                      <a:endParaRPr lang="pt-BR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404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Taxa de Amostragem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12.5 MSps</a:t>
                      </a:r>
                      <a:endParaRPr lang="en-US" altLang="en-US" sz="1600">
                        <a:highlight>
                          <a:srgbClr val="00FF0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 kSps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MSps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Amplitude de Entrada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a 3,3 V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±10 V (Dif.), ±20 V (Abs.)</a:t>
                      </a:r>
                      <a:endParaRPr lang="en-US" altLang="en-US" sz="1600">
                        <a:highlight>
                          <a:srgbClr val="00FF0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±10 V, ±5 V, ±2,5 V (Dif.)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4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SNR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 dB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 dB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90,5 dB</a:t>
                      </a:r>
                      <a:endParaRPr lang="en-US" altLang="en-US" sz="1600">
                        <a:highlight>
                          <a:srgbClr val="00FF0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67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  <a:endParaRPr lang="en-US" altLang="en-US" sz="1600" b="1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±48 LSB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±20,133 LSB</a:t>
                      </a:r>
                      <a:endParaRPr lang="en-US" altLang="en-US" sz="160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60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±6 LSB</a:t>
                      </a:r>
                      <a:endParaRPr lang="en-US" altLang="en-US" sz="1600">
                        <a:highlight>
                          <a:srgbClr val="00FF00"/>
                        </a:highlight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t" anchorCtr="0">
                    <a:lnL>
                      <a:noFill/>
                    </a:lnL>
                    <a:lnR cap="flat">
                      <a:noFill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Google Shape;105;p3"/>
          <p:cNvSpPr txBox="1"/>
          <p:nvPr/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 panose="02040503050406030204"/>
              <a:buNone/>
              <a:defRPr sz="44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b="1">
                <a:latin typeface="Cambria" panose="02040503050406030204"/>
                <a:ea typeface="Cambria" panose="02040503050406030204"/>
                <a:cs typeface="Cambria" panose="02040503050406030204"/>
              </a:rPr>
              <a:t>Conversor A/D</a:t>
            </a:r>
            <a:endParaRPr lang="pt-BR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5" name="Caixa de Texto 14"/>
          <p:cNvSpPr txBox="1"/>
          <p:nvPr/>
        </p:nvSpPr>
        <p:spPr>
          <a:xfrm>
            <a:off x="4728210" y="143573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Tabela 1 - Comparação de conversores A/D.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6" name="Caixa de Texto 15"/>
          <p:cNvSpPr txBox="1"/>
          <p:nvPr/>
        </p:nvSpPr>
        <p:spPr>
          <a:xfrm>
            <a:off x="4728210" y="600519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Fonte: Autoria Própria (2023)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ftr" idx="1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08" name="Google Shape;108;p3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5;p3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sz="4400" b="1">
                <a:latin typeface="Cambria" panose="02040503050406030204"/>
                <a:ea typeface="Cambria" panose="02040503050406030204"/>
                <a:cs typeface="Cambria" panose="02040503050406030204"/>
              </a:rPr>
              <a:t>Projeto de Placa</a:t>
            </a:r>
            <a:endParaRPr lang="pt-BR" sz="4400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1" name="Caixa de Texto 10"/>
          <p:cNvSpPr txBox="1"/>
          <p:nvPr/>
        </p:nvSpPr>
        <p:spPr>
          <a:xfrm>
            <a:off x="7403465" y="3816985"/>
            <a:ext cx="4075430" cy="38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pt-BR" altLang="en-US"/>
          </a:p>
        </p:txBody>
      </p:sp>
      <p:pic>
        <p:nvPicPr>
          <p:cNvPr id="15" name="Espaço Reservado para Imagem 14" descr="Circs"/>
          <p:cNvPicPr>
            <a:picLocks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407670" y="2277110"/>
            <a:ext cx="11236325" cy="3161665"/>
          </a:xfrm>
          <a:prstGeom prst="rect">
            <a:avLst/>
          </a:prstGeom>
        </p:spPr>
      </p:pic>
      <p:sp>
        <p:nvSpPr>
          <p:cNvPr id="2" name="Caixa de Texto 1"/>
          <p:cNvSpPr txBox="1"/>
          <p:nvPr/>
        </p:nvSpPr>
        <p:spPr>
          <a:xfrm>
            <a:off x="4343400" y="1815465"/>
            <a:ext cx="48329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Figura 1 - Esquemáticos dos circuitos comparados.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6" name="Caixa de Texto 15"/>
          <p:cNvSpPr txBox="1"/>
          <p:nvPr/>
        </p:nvSpPr>
        <p:spPr>
          <a:xfrm>
            <a:off x="4584065" y="534416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Fonte: Autoria Própria (2023)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ftr" idx="1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08" name="Google Shape;108;p3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5;p3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sz="4400" b="1">
                <a:latin typeface="Cambria" panose="02040503050406030204"/>
                <a:ea typeface="Cambria" panose="02040503050406030204"/>
                <a:cs typeface="Cambria" panose="02040503050406030204"/>
              </a:rPr>
              <a:t>Filtro Antialiasing</a:t>
            </a:r>
            <a:endParaRPr lang="pt-BR" sz="4400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96" name="Google Shape;96;p2"/>
          <p:cNvSpPr txBox="1"/>
          <p:nvPr>
            <p:ph type="body" idx="1"/>
          </p:nvPr>
        </p:nvSpPr>
        <p:spPr bwMode="auto">
          <a:xfrm>
            <a:off x="838200" y="1943735"/>
            <a:ext cx="8891905" cy="175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p>
            <a:pPr marL="0" lv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pt-BR" sz="2800">
                <a:ln>
                  <a:noFill/>
                </a:ln>
                <a:solidFill>
                  <a:schemeClr val="tx1"/>
                </a:solidFill>
              </a:rPr>
              <a:t>Apesar do AD7616 já possuir um filtro passa-baixa (FPB), um segundo filtro adicionado em cascata pode providenciar uma atenuação mais precisa (RAZAVI, 2017, p. 564).</a:t>
            </a:r>
            <a:endParaRPr lang="pt-BR" sz="2800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11" name="Caixa de Texto 10"/>
          <p:cNvSpPr txBox="1"/>
          <p:nvPr/>
        </p:nvSpPr>
        <p:spPr>
          <a:xfrm>
            <a:off x="7403465" y="3816985"/>
            <a:ext cx="4075430" cy="38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pt-BR" altLang="en-US"/>
          </a:p>
        </p:txBody>
      </p:sp>
      <p:graphicFrame>
        <p:nvGraphicFramePr>
          <p:cNvPr id="3" name="Tabela 2"/>
          <p:cNvGraphicFramePr/>
          <p:nvPr/>
        </p:nvGraphicFramePr>
        <p:xfrm>
          <a:off x="2552700" y="4437380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372"/>
                <a:gridCol w="1706372"/>
                <a:gridCol w="1706372"/>
                <a:gridCol w="1706372"/>
                <a:gridCol w="1706372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f0</a:t>
                      </a:r>
                      <a:endParaRPr lang="pt-BR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K</a:t>
                      </a:r>
                      <a:endParaRPr lang="pt-BR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R1</a:t>
                      </a:r>
                      <a:endParaRPr lang="pt-BR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R2</a:t>
                      </a:r>
                      <a:endParaRPr lang="pt-BR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C</a:t>
                      </a:r>
                      <a:endParaRPr lang="pt-BR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39 kHz</a:t>
                      </a:r>
                      <a:endParaRPr lang="pt-BR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1</a:t>
                      </a:r>
                      <a:endParaRPr lang="pt-BR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10 </a:t>
                      </a:r>
                      <a:r>
                        <a:rPr lang="pt-BR" altLang="en-US" sz="1400">
                          <a:sym typeface="+mn-ea"/>
                        </a:rPr>
                        <a:t>kΩ</a:t>
                      </a:r>
                      <a:endParaRPr lang="pt-BR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10 </a:t>
                      </a:r>
                      <a:r>
                        <a:rPr lang="pt-BR" altLang="en-US" sz="1400">
                          <a:sym typeface="+mn-ea"/>
                        </a:rPr>
                        <a:t>kΩ</a:t>
                      </a:r>
                      <a:endParaRPr lang="pt-BR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 altLang="en-US"/>
                        <a:t>408,9 pF</a:t>
                      </a:r>
                      <a:endParaRPr lang="pt-B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aixa de Texto 3"/>
          <p:cNvSpPr txBox="1"/>
          <p:nvPr/>
        </p:nvSpPr>
        <p:spPr>
          <a:xfrm>
            <a:off x="4872355" y="401701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Tabela 2 - Valores do filtro.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6" name="Caixa de Texto 15"/>
          <p:cNvSpPr txBox="1"/>
          <p:nvPr/>
        </p:nvSpPr>
        <p:spPr>
          <a:xfrm>
            <a:off x="4584065" y="534416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Fonte: Autoria Própria (2023)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ftr" idx="1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08" name="Google Shape;108;p3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Bode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50" y="1701165"/>
            <a:ext cx="6301105" cy="4726305"/>
          </a:xfrm>
          <a:prstGeom prst="rect">
            <a:avLst/>
          </a:prstGeom>
        </p:spPr>
      </p:pic>
      <p:sp>
        <p:nvSpPr>
          <p:cNvPr id="10" name="Google Shape;105;p3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sz="4400" b="1">
                <a:latin typeface="Cambria" panose="02040503050406030204"/>
                <a:ea typeface="Cambria" panose="02040503050406030204"/>
                <a:cs typeface="Cambria" panose="02040503050406030204"/>
              </a:rPr>
              <a:t>Filtro Antialiasing</a:t>
            </a:r>
            <a:endParaRPr lang="pt-BR" sz="4400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65" y="3357245"/>
            <a:ext cx="3840480" cy="1036955"/>
          </a:xfrm>
          <a:prstGeom prst="rect">
            <a:avLst/>
          </a:prstGeom>
        </p:spPr>
      </p:pic>
      <p:sp>
        <p:nvSpPr>
          <p:cNvPr id="4" name="Caixa de Texto 3"/>
          <p:cNvSpPr txBox="1"/>
          <p:nvPr/>
        </p:nvSpPr>
        <p:spPr>
          <a:xfrm>
            <a:off x="6384290" y="638429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Fonte: Autoria Própria (2023)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5808345" y="1557020"/>
            <a:ext cx="54336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Figura 2 -  Diagrama de Bode do filtro passa baixa projetado.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ftr" idx="11"/>
          </p:nvPr>
        </p:nvSpPr>
        <p:spPr bwMode="auto"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08" name="Google Shape;108;p3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 descr="output2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" y="2091690"/>
            <a:ext cx="5811520" cy="3433445"/>
          </a:xfrm>
          <a:prstGeom prst="rect">
            <a:avLst/>
          </a:prstGeom>
        </p:spPr>
      </p:pic>
      <p:sp>
        <p:nvSpPr>
          <p:cNvPr id="10" name="Google Shape;105;p3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sz="4400" b="1">
                <a:latin typeface="Cambria" panose="02040503050406030204"/>
                <a:ea typeface="Cambria" panose="02040503050406030204"/>
                <a:cs typeface="Cambria" panose="02040503050406030204"/>
              </a:rPr>
              <a:t>Resultados da Simulação</a:t>
            </a:r>
            <a:endParaRPr lang="pt-BR" sz="4400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11" name="Espaço Reservado para Imagem 10" descr="SNR (1)"/>
          <p:cNvPicPr>
            <a:picLocks noChangeAspect="1"/>
          </p:cNvPicPr>
          <p:nvPr>
            <p:ph type="pic" idx="2"/>
          </p:nvPr>
        </p:nvPicPr>
        <p:blipFill>
          <a:blip r:embed="rId4"/>
          <a:stretch>
            <a:fillRect/>
          </a:stretch>
        </p:blipFill>
        <p:spPr>
          <a:xfrm>
            <a:off x="6384290" y="2137410"/>
            <a:ext cx="5733415" cy="3387725"/>
          </a:xfrm>
          <a:prstGeom prst="rect">
            <a:avLst/>
          </a:prstGeom>
        </p:spPr>
      </p:pic>
      <p:sp>
        <p:nvSpPr>
          <p:cNvPr id="12" name="Caixa de Texto 11"/>
          <p:cNvSpPr txBox="1"/>
          <p:nvPr/>
        </p:nvSpPr>
        <p:spPr>
          <a:xfrm>
            <a:off x="3432175" y="1722755"/>
            <a:ext cx="58572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Figura 2 -  Resposta dos sistemas ao sinal alternado de entrada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3" name="Caixa de Texto 12"/>
          <p:cNvSpPr txBox="1"/>
          <p:nvPr/>
        </p:nvSpPr>
        <p:spPr>
          <a:xfrm>
            <a:off x="4328795" y="542988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sz="1600">
                <a:latin typeface="Cambria" panose="02040503050406030204" charset="0"/>
                <a:cs typeface="Cambria" panose="02040503050406030204" charset="0"/>
              </a:rPr>
              <a:t>Fonte: Autoria Própria (2023)</a:t>
            </a:r>
            <a:endParaRPr lang="pt-BR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b="1">
                <a:latin typeface="Cambria" panose="02040503050406030204"/>
                <a:ea typeface="Cambria" panose="02040503050406030204"/>
                <a:cs typeface="Cambria" panose="02040503050406030204"/>
              </a:rPr>
              <a:t>Conclusões</a:t>
            </a:r>
            <a:endParaRPr lang="pt-BR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07" name="Google Shape;107;p3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08" name="Google Shape;108;p3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 de Texto 3"/>
          <p:cNvSpPr txBox="1"/>
          <p:nvPr/>
        </p:nvSpPr>
        <p:spPr>
          <a:xfrm>
            <a:off x="838200" y="1772920"/>
            <a:ext cx="9723755" cy="3707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en-US" sz="2000">
                <a:latin typeface="Cambria" panose="02040503050406030204" charset="0"/>
                <a:cs typeface="Cambria" panose="02040503050406030204" charset="0"/>
              </a:rPr>
              <a:t>Para todo o espectro de frequência há uma menor taxa de ruído proporcional ao sinal e ligeira redução da distorção de sinal de 0,0076646% para 0,0075747%;</a:t>
            </a:r>
            <a:endParaRPr lang="pt-BR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en-US" sz="2000">
                <a:latin typeface="Cambria" panose="02040503050406030204" charset="0"/>
                <a:cs typeface="Cambria" panose="02040503050406030204" charset="0"/>
              </a:rPr>
              <a:t>Essa diferença é proporcionada pela maior amplitude do sinal e menor quantidade de componentes como fonte de ruídos;</a:t>
            </a:r>
            <a:endParaRPr lang="pt-BR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en-US" sz="2000">
                <a:latin typeface="Cambria" panose="02040503050406030204" charset="0"/>
                <a:cs typeface="Cambria" panose="02040503050406030204" charset="0"/>
              </a:rPr>
              <a:t>Extender esta analise ao influenciado pelo conversor A/D poderia ser esperada menor distorção de sinal de acordo com as fichas de dados destes;</a:t>
            </a:r>
            <a:endParaRPr lang="pt-BR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altLang="en-US" sz="20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altLang="en-US" sz="2000">
                <a:latin typeface="Cambria" panose="02040503050406030204" charset="0"/>
                <a:cs typeface="Cambria" panose="02040503050406030204" charset="0"/>
              </a:rPr>
              <a:t>Uma comparação de maneira experimental, com construção física das placas poderia comprovar esta diferença.</a:t>
            </a:r>
            <a:endParaRPr lang="pt-BR" altLang="en-US" sz="20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b="1">
                <a:latin typeface="Cambria" panose="02040503050406030204"/>
                <a:ea typeface="Cambria" panose="02040503050406030204"/>
                <a:cs typeface="Cambria" panose="02040503050406030204"/>
              </a:rPr>
              <a:t>Agradecimentos</a:t>
            </a:r>
            <a:endParaRPr lang="pt-BR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15" name="Google Shape;115;p4"/>
          <p:cNvSpPr txBox="1"/>
          <p:nvPr>
            <p:ph type="body" idx="1"/>
          </p:nvPr>
        </p:nvSpPr>
        <p:spPr bwMode="auto">
          <a:xfrm>
            <a:off x="838200" y="1825625"/>
            <a:ext cx="10515600" cy="3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Os autores agradecem a instituição pela disponibilização do conteúdo teórico referenciado e acesso ao software MATLAB.</a:t>
            </a:r>
            <a:endParaRPr lang="pt-BR"/>
          </a:p>
        </p:txBody>
      </p:sp>
      <p:sp>
        <p:nvSpPr>
          <p:cNvPr id="116" name="Google Shape;116;p4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17" name="Google Shape;117;p4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 panose="02040503050406030204"/>
              <a:buNone/>
              <a:defRPr/>
            </a:pPr>
            <a:r>
              <a:rPr lang="pt-BR" b="1">
                <a:latin typeface="Cambria" panose="02040503050406030204"/>
                <a:ea typeface="Cambria" panose="02040503050406030204"/>
                <a:cs typeface="Cambria" panose="02040503050406030204"/>
              </a:rPr>
              <a:t>Referências</a:t>
            </a:r>
            <a:endParaRPr lang="pt-BR" b="1"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24" name="Google Shape;124;p5"/>
          <p:cNvSpPr txBox="1"/>
          <p:nvPr>
            <p:ph type="body" idx="1"/>
          </p:nvPr>
        </p:nvSpPr>
        <p:spPr bwMode="auto">
          <a:xfrm>
            <a:off x="838200" y="1825625"/>
            <a:ext cx="10515600" cy="38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0000"/>
          </a:bodyPr>
          <a:lstStyle/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ALMEIDA, Douglas de Florio Ubeda. Filtros passa-baixas por aproximação butterworth e chebyshev utilizando topologia sallen-key. Pato Branco: [s.n.], 2015.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>
                <a:sym typeface="+mn-ea"/>
              </a:rPr>
              <a:t>ASPALLI, M. S.; MUNSHI, F. M.; MEDEGAR, S. L. Speed control of BLDC motor with Four Switch Three Phase Inverter using Digital Signal Controller. 2015 International Conference on Power and Advanced Control Engineering (ICPACE), pp. 371-376, doi: 10.1109/ICPACE.2015.7274975., Bengaluru, India, 2015.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BAKER, Bonnie C. Anti-Aliasing, Analog Filters for Data Acquisition Systems. Arizona, USA: Microchip Technology Inc. AN699, DS00699B, 1999.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BALESTRIERI, E; AL, et. A State of the Art on ADC Error Compensation Methods. [S.l.]: IEEE Transactions on Instrumentation e Measurement ( Volume: 54, Issue: 4, August 2005), 2005.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BOYLESTAD, Robert L.; LOUIS, Nashelsky. Dispositivos Eletrônicos: E teoria de circuitos. 11. ed. [S.l.]: Pearson, 2013.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>
                <a:sym typeface="+mn-ea"/>
              </a:rPr>
              <a:t>KAMIL, M. Grid-Connected Solar Microinverter Reference Design Using a dsPIC® Digital Signal Controller. 2010 Microchip Technology Inc. DS01338A, AN1338, 2010.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KESTER, Walt. Practical Design Techniques for Sensor Signal Conditioning. [S.l.]: Analog Devices, 1999.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PATIDAR, R. D.; SINGH, S. P. Digital Signal Processor Based Shunt Active Filter Controller for Customer-generated Harmonics and Reactive Power Compensation, Electric Power Components and Systems. [S.l.: s.n.], 2010.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PERTENCE JUNIOR, Antonio. Amplificadores Operacionais e Filtros Ativos. 6. ed. Porto Alegre: [s.n.], 2007.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RAZAVI, Behzad. Fundamentos de Microeletrônica. 2. ed. Los Angeles: Grupo GEN, 2017.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SEDRA, A. S.; SMITH, K. C. Microeletrônica. 5. ed. [S.l.]: Pearson Prentice Hall, 2007.</a:t>
            </a:r>
            <a:endParaRPr lang="pt-BR"/>
          </a:p>
          <a:p>
            <a:pPr marL="228600" lvl="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pPr>
            <a:r>
              <a:rPr lang="pt-BR"/>
              <a:t>UNDERSTANDING SAR ADCs: Their Architecture and Comparison with Other ADCs. [S.l.]: MAXIM INTEGRATED, 2001.</a:t>
            </a:r>
            <a:endParaRPr lang="pt-BR"/>
          </a:p>
        </p:txBody>
      </p:sp>
      <p:sp>
        <p:nvSpPr>
          <p:cNvPr id="125" name="Google Shape;125;p5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pt-BR"/>
              <a:t>seisicite.com.br</a:t>
            </a:r>
            <a:endParaRPr lang="pt-BR"/>
          </a:p>
        </p:txBody>
      </p:sp>
      <p:pic>
        <p:nvPicPr>
          <p:cNvPr id="126" name="Google Shape;126;p5"/>
          <p:cNvPicPr/>
          <p:nvPr/>
        </p:nvPicPr>
        <p:blipFill>
          <a:blip r:embed="rId1"/>
          <a:srcRect l="69636"/>
          <a:stretch>
            <a:fillRect/>
          </a:stretch>
        </p:blipFill>
        <p:spPr bwMode="auto">
          <a:xfrm>
            <a:off x="10543064" y="0"/>
            <a:ext cx="1475238" cy="19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5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-226800" y="5344202"/>
            <a:ext cx="2423400" cy="169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5321</Words>
  <Application>WPS Presentation</Application>
  <PresentationFormat>On-screen Show (4:3)</PresentationFormat>
  <Paragraphs>213</Paragraphs>
  <Slides>13</Slides>
  <Notes>5</Notes>
  <HiddenSlides>0</HiddenSlides>
  <MMClips>2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Cambria</vt:lpstr>
      <vt:lpstr>Noto Sans Symbols</vt:lpstr>
      <vt:lpstr>Noto Sans</vt:lpstr>
      <vt:lpstr>Microsoft YaHei</vt:lpstr>
      <vt:lpstr>Arial Unicode MS</vt:lpstr>
      <vt:lpstr>Calibri</vt:lpstr>
      <vt:lpstr>Cambria Math</vt:lpstr>
      <vt:lpstr>Cambria</vt:lpstr>
      <vt:lpstr>SimHei</vt:lpstr>
      <vt:lpstr>Aurebesh</vt:lpstr>
      <vt:lpstr>BatangChe</vt:lpstr>
      <vt:lpstr>Tema do Office</vt:lpstr>
      <vt:lpstr>Título</vt:lpstr>
      <vt:lpstr>Título 1</vt:lpstr>
      <vt:lpstr>Introdução</vt:lpstr>
      <vt:lpstr>Título 2</vt:lpstr>
      <vt:lpstr>Conversor A/D</vt:lpstr>
      <vt:lpstr>Conversor A/D</vt:lpstr>
      <vt:lpstr>Projeto de Placa</vt:lpstr>
      <vt:lpstr>Filtro Antialiasing</vt:lpstr>
      <vt:lpstr>Filtro Antialiasing</vt:lpstr>
      <vt:lpstr>Resultados da Simulação</vt:lpstr>
      <vt:lpstr>Título 2</vt:lpstr>
      <vt:lpstr>Agradecimentos</vt:lpstr>
      <vt:lpstr>Referências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Alessandra Matte</dc:creator>
  <cp:lastModifiedBy>Gustavo Osti</cp:lastModifiedBy>
  <cp:revision>4</cp:revision>
  <dcterms:created xsi:type="dcterms:W3CDTF">2022-09-18T20:03:00Z</dcterms:created>
  <dcterms:modified xsi:type="dcterms:W3CDTF">2023-11-10T17:34:41Z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923A32CD9A6241E5AB0C33E102C68AE0_13</vt:lpwstr>
  </property>
  <property fmtid="{D5CDD505-2E9C-101B-9397-08002B2CF9AE}" pid="3" name="KSOProductBuildVer">
    <vt:lpwstr>1046-12.2.0.13266</vt:lpwstr>
  </property>
</Properties>
</file>